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13170-07E9-ECF3-AD22-80FD01E736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CD4D72-E576-1E94-573C-135AF12365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6C256B-3851-1C21-6FC9-3A35F5CED751}"/>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5" name="Footer Placeholder 4">
            <a:extLst>
              <a:ext uri="{FF2B5EF4-FFF2-40B4-BE49-F238E27FC236}">
                <a16:creationId xmlns:a16="http://schemas.microsoft.com/office/drawing/2014/main" id="{7E0713C8-6976-3D62-F901-ADAD392D4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C9A717-DF6B-C012-57BA-9DF65AACD4F9}"/>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3387668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CB878-B6D7-FBA3-D2C1-D985B5E246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06A533-8215-70C2-B1A1-BC2407F142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AFA8D-6BA9-D328-1270-AE21112FC310}"/>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5" name="Footer Placeholder 4">
            <a:extLst>
              <a:ext uri="{FF2B5EF4-FFF2-40B4-BE49-F238E27FC236}">
                <a16:creationId xmlns:a16="http://schemas.microsoft.com/office/drawing/2014/main" id="{268A3AC2-E266-6432-32C7-9D0B89B99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6F7A3C-665D-CFA8-7C0B-85050FE7B2FD}"/>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2227031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3D8D5-2A8F-08E5-E666-6BA36EFA85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051F62-A242-CDBF-A016-37CCC454CC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56228D-3032-D819-BF47-B388484B86EB}"/>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5" name="Footer Placeholder 4">
            <a:extLst>
              <a:ext uri="{FF2B5EF4-FFF2-40B4-BE49-F238E27FC236}">
                <a16:creationId xmlns:a16="http://schemas.microsoft.com/office/drawing/2014/main" id="{B4244E96-A334-1425-8E30-4555E0E44C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0D0C4C-73A2-26AD-AC03-88E85CC28027}"/>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392271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46015-961D-12ED-487A-EB3BB771D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5CA8BC-1F23-FDAD-3531-2C2146DF7C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7AA009-CA1B-C178-A8DC-7C92ED87EC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55BF18-134C-C207-7E49-45B63AE5FCEC}"/>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6" name="Footer Placeholder 5">
            <a:extLst>
              <a:ext uri="{FF2B5EF4-FFF2-40B4-BE49-F238E27FC236}">
                <a16:creationId xmlns:a16="http://schemas.microsoft.com/office/drawing/2014/main" id="{C7DF76DE-6CCA-5AAF-2310-F6E4AC9857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BBB03D-5D26-A7F3-7C4A-5A09181A61EB}"/>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182350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D8B5F-F4EE-ADC0-C011-08D2C64E74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31BE40-E8E8-B51D-4F00-B48994F180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BF8AA0-F4E5-D1CB-C824-DE68E6B0AE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FA0CDB-9A84-19A7-023E-BEA87B344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082C03-CE01-9D0C-4571-BBEF5FD7F5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9B535D-3637-C862-D1F2-B2284D710895}"/>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8" name="Footer Placeholder 7">
            <a:extLst>
              <a:ext uri="{FF2B5EF4-FFF2-40B4-BE49-F238E27FC236}">
                <a16:creationId xmlns:a16="http://schemas.microsoft.com/office/drawing/2014/main" id="{003E633C-8A54-8E7B-682B-53435B1559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23BFBD-7AA3-216C-41D0-B79E7C8B3821}"/>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4074293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E7249-59A0-4E1F-C9D6-F92D8C4B0E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9DDCBF-764A-3A2A-91B5-D1799C73CD77}"/>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4" name="Footer Placeholder 3">
            <a:extLst>
              <a:ext uri="{FF2B5EF4-FFF2-40B4-BE49-F238E27FC236}">
                <a16:creationId xmlns:a16="http://schemas.microsoft.com/office/drawing/2014/main" id="{F2906220-F4A3-0194-7147-17FC39F26D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DF6A49-2694-1C8E-C742-5B6F083A7499}"/>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3808870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CFA81B-FA5C-8216-8063-158C1FF08EDB}"/>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3" name="Footer Placeholder 2">
            <a:extLst>
              <a:ext uri="{FF2B5EF4-FFF2-40B4-BE49-F238E27FC236}">
                <a16:creationId xmlns:a16="http://schemas.microsoft.com/office/drawing/2014/main" id="{AF33D4C2-F2B8-9208-8713-29084A7DAB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576608-462A-4668-A4ED-8C2682DC9011}"/>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1679703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BE2B8-48BC-AA41-2D7A-8F6E555D07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4941B8-483C-FEB6-6FB5-84F2338532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100335-7048-5461-FF72-627CAB709C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4CBF5C-C274-04D0-DAD4-E501056E79F0}"/>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6" name="Footer Placeholder 5">
            <a:extLst>
              <a:ext uri="{FF2B5EF4-FFF2-40B4-BE49-F238E27FC236}">
                <a16:creationId xmlns:a16="http://schemas.microsoft.com/office/drawing/2014/main" id="{07CB6AF3-9651-7B30-6AD2-21F3E46C05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2D0482-BC0B-ABBC-97B6-E7FC291E9F29}"/>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2075401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6398-8C4C-F5C5-A356-52D5AF594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7370B9-DF61-8B4F-E782-09E2BA8C69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345677-10E2-AD51-4D34-CEA8B3CCB4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CBEBBB-9890-41A6-FB0A-352BF561703F}"/>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6" name="Footer Placeholder 5">
            <a:extLst>
              <a:ext uri="{FF2B5EF4-FFF2-40B4-BE49-F238E27FC236}">
                <a16:creationId xmlns:a16="http://schemas.microsoft.com/office/drawing/2014/main" id="{283A4684-6CF9-CD44-70B6-CED55D86A5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79F137-4CA8-0276-BD60-ED367D8D1007}"/>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693403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EE2E2-0753-B7F1-FF5C-10E1723392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309FA7-78F0-9984-EF67-33F39FEF91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B64008-F2D2-3DAB-43E2-DD0BD5B6C9FF}"/>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5" name="Footer Placeholder 4">
            <a:extLst>
              <a:ext uri="{FF2B5EF4-FFF2-40B4-BE49-F238E27FC236}">
                <a16:creationId xmlns:a16="http://schemas.microsoft.com/office/drawing/2014/main" id="{422C16F1-193F-C889-68C2-597C8C6E1D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B84900-CF51-6146-8059-FA9990165476}"/>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1075040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54FE9C-6BA2-49AF-8574-2CE2EA7F07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CC7692-A6E0-1A4B-1D45-83B882BC1D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672653-D31C-8DBE-B95E-FC2A337B8A12}"/>
              </a:ext>
            </a:extLst>
          </p:cNvPr>
          <p:cNvSpPr>
            <a:spLocks noGrp="1"/>
          </p:cNvSpPr>
          <p:nvPr>
            <p:ph type="dt" sz="half" idx="10"/>
          </p:nvPr>
        </p:nvSpPr>
        <p:spPr/>
        <p:txBody>
          <a:bodyPr/>
          <a:lstStyle/>
          <a:p>
            <a:fld id="{18E22DAC-304F-4F52-9F26-8C8B8FABCF90}" type="datetimeFigureOut">
              <a:rPr lang="en-US" smtClean="0"/>
              <a:t>8/12/2025</a:t>
            </a:fld>
            <a:endParaRPr lang="en-US"/>
          </a:p>
        </p:txBody>
      </p:sp>
      <p:sp>
        <p:nvSpPr>
          <p:cNvPr id="5" name="Footer Placeholder 4">
            <a:extLst>
              <a:ext uri="{FF2B5EF4-FFF2-40B4-BE49-F238E27FC236}">
                <a16:creationId xmlns:a16="http://schemas.microsoft.com/office/drawing/2014/main" id="{BBEA5D80-DA65-7C7B-6689-A9EDAFF2D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9DD6E0-CFB2-A9BF-E345-4F3C6DC77D00}"/>
              </a:ext>
            </a:extLst>
          </p:cNvPr>
          <p:cNvSpPr>
            <a:spLocks noGrp="1"/>
          </p:cNvSpPr>
          <p:nvPr>
            <p:ph type="sldNum" sz="quarter" idx="12"/>
          </p:nvPr>
        </p:nvSpPr>
        <p:spPr/>
        <p:txBody>
          <a:bodyPr/>
          <a:lstStyle/>
          <a:p>
            <a:fld id="{91D99ED9-6E61-4477-B0EA-1C24BCE8FDF5}" type="slidenum">
              <a:rPr lang="en-US" smtClean="0"/>
              <a:t>‹#›</a:t>
            </a:fld>
            <a:endParaRPr lang="en-US"/>
          </a:p>
        </p:txBody>
      </p:sp>
    </p:spTree>
    <p:extLst>
      <p:ext uri="{BB962C8B-B14F-4D97-AF65-F5344CB8AC3E}">
        <p14:creationId xmlns:p14="http://schemas.microsoft.com/office/powerpoint/2010/main" val="1464168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7E2918-958E-93E2-D57D-D5EB861B92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63B34B-2BF7-C915-BF04-B7CA266D66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5C6387-A773-3970-E317-0967522F99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E22DAC-304F-4F52-9F26-8C8B8FABCF90}" type="datetimeFigureOut">
              <a:rPr lang="en-US" smtClean="0"/>
              <a:t>8/12/2025</a:t>
            </a:fld>
            <a:endParaRPr lang="en-US"/>
          </a:p>
        </p:txBody>
      </p:sp>
      <p:sp>
        <p:nvSpPr>
          <p:cNvPr id="5" name="Footer Placeholder 4">
            <a:extLst>
              <a:ext uri="{FF2B5EF4-FFF2-40B4-BE49-F238E27FC236}">
                <a16:creationId xmlns:a16="http://schemas.microsoft.com/office/drawing/2014/main" id="{0ECA165F-B778-5F1B-B822-BB7AB9B58F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368FEC-FB17-3E7B-18F4-98DA754EC7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D99ED9-6E61-4477-B0EA-1C24BCE8FDF5}" type="slidenum">
              <a:rPr lang="en-US" smtClean="0"/>
              <a:t>‹#›</a:t>
            </a:fld>
            <a:endParaRPr lang="en-US"/>
          </a:p>
        </p:txBody>
      </p:sp>
    </p:spTree>
    <p:extLst>
      <p:ext uri="{BB962C8B-B14F-4D97-AF65-F5344CB8AC3E}">
        <p14:creationId xmlns:p14="http://schemas.microsoft.com/office/powerpoint/2010/main" val="2321086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A205600-32F3-9A65-49F2-D32D746BC42C}"/>
              </a:ext>
            </a:extLst>
          </p:cNvPr>
          <p:cNvSpPr txBox="1"/>
          <p:nvPr/>
        </p:nvSpPr>
        <p:spPr>
          <a:xfrm>
            <a:off x="181947" y="93307"/>
            <a:ext cx="11611947" cy="276999"/>
          </a:xfrm>
          <a:prstGeom prst="rect">
            <a:avLst/>
          </a:prstGeom>
          <a:noFill/>
        </p:spPr>
        <p:txBody>
          <a:bodyPr wrap="square" rtlCol="0">
            <a:spAutoFit/>
          </a:bodyPr>
          <a:lstStyle/>
          <a:p>
            <a:endParaRPr lang="en-US" sz="1200" dirty="0"/>
          </a:p>
        </p:txBody>
      </p:sp>
    </p:spTree>
    <p:extLst>
      <p:ext uri="{BB962C8B-B14F-4D97-AF65-F5344CB8AC3E}">
        <p14:creationId xmlns:p14="http://schemas.microsoft.com/office/powerpoint/2010/main" val="1598591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2B0A-9A7E-98B0-41DC-B5249F6F7B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33708C-01DF-97C8-4E4A-46C761B8FC81}"/>
              </a:ext>
            </a:extLst>
          </p:cNvPr>
          <p:cNvSpPr txBox="1"/>
          <p:nvPr/>
        </p:nvSpPr>
        <p:spPr>
          <a:xfrm>
            <a:off x="181947" y="93307"/>
            <a:ext cx="11611947" cy="6199005"/>
          </a:xfrm>
          <a:prstGeom prst="rect">
            <a:avLst/>
          </a:prstGeom>
          <a:noFill/>
        </p:spPr>
        <p:txBody>
          <a:bodyPr wrap="square" rtlCol="0">
            <a:spAutoFit/>
          </a:bodyPr>
          <a:lstStyle/>
          <a:p>
            <a:pPr>
              <a:lnSpc>
                <a:spcPct val="150000"/>
              </a:lnSpc>
            </a:pPr>
            <a:r>
              <a:rPr lang="en-US" sz="1400" dirty="0">
                <a:latin typeface="Arial Black" panose="020B0A04020102020204" pitchFamily="34" charset="0"/>
              </a:rPr>
              <a:t>My project is a </a:t>
            </a:r>
            <a:r>
              <a:rPr lang="en-US" sz="1400" b="1" dirty="0">
                <a:latin typeface="Arial Black" panose="020B0A04020102020204" pitchFamily="34" charset="0"/>
              </a:rPr>
              <a:t>comprehensive personal coaching platform</a:t>
            </a:r>
            <a:r>
              <a:rPr lang="en-US" sz="1400" dirty="0">
                <a:latin typeface="Arial Black" panose="020B0A04020102020204" pitchFamily="34" charset="0"/>
              </a:rPr>
              <a:t> where coaches can offer three primary services: </a:t>
            </a:r>
            <a:r>
              <a:rPr lang="en-US" sz="1400" b="1" dirty="0">
                <a:latin typeface="Arial Black" panose="020B0A04020102020204" pitchFamily="34" charset="0"/>
              </a:rPr>
              <a:t>online coaching packages, courses, and digital books</a:t>
            </a:r>
            <a:r>
              <a:rPr lang="en-US" sz="1400" dirty="0">
                <a:latin typeface="Arial Black" panose="020B0A04020102020204" pitchFamily="34" charset="0"/>
              </a:rPr>
              <a:t>. Clients can register and choose any combination of services—subscribing to online coaching, purchasing books, enrolling in courses, or combining these options. For online coaching, the coach creates and lists multiple subscription packages (e.g., 1 month, 2 months, 3 months, up to 1 year), each with a specific price and detailed description. Once a client selects a package and submits a request, the coach reviews and approves it. Upon approval, the client is presented with a </a:t>
            </a:r>
            <a:r>
              <a:rPr lang="en-US" sz="1400" b="1" dirty="0">
                <a:latin typeface="Arial Black" panose="020B0A04020102020204" pitchFamily="34" charset="0"/>
              </a:rPr>
              <a:t>customized questionnaire</a:t>
            </a:r>
            <a:r>
              <a:rPr lang="en-US" sz="1400" dirty="0">
                <a:latin typeface="Arial Black" panose="020B0A04020102020204" pitchFamily="34" charset="0"/>
              </a:rPr>
              <a:t> prepared by the coach, and based on the responses, the coach assigns a </a:t>
            </a:r>
            <a:r>
              <a:rPr lang="en-US" sz="1400" b="1" dirty="0">
                <a:latin typeface="Arial Black" panose="020B0A04020102020204" pitchFamily="34" charset="0"/>
              </a:rPr>
              <a:t>personalized nutrition and exercise program</a:t>
            </a:r>
            <a:r>
              <a:rPr lang="en-US" sz="1400" dirty="0">
                <a:latin typeface="Arial Black" panose="020B0A04020102020204" pitchFamily="34" charset="0"/>
              </a:rPr>
              <a:t> from a predefined database of workouts and meal plans. Online coaching access is time-limited, automatically locking upon subscription expiry. For books, clients browse the available library, submit purchase requests for desired titles, and upon coach approval, receive </a:t>
            </a:r>
            <a:r>
              <a:rPr lang="en-US" sz="1400" b="1" dirty="0">
                <a:latin typeface="Arial Black" panose="020B0A04020102020204" pitchFamily="34" charset="0"/>
              </a:rPr>
              <a:t>view-only embedded access</a:t>
            </a:r>
            <a:r>
              <a:rPr lang="en-US" sz="1400" dirty="0">
                <a:latin typeface="Arial Black" panose="020B0A04020102020204" pitchFamily="34" charset="0"/>
              </a:rPr>
              <a:t> with strict anti-download and anti-copy protection. Similarly, for courses, clients can request enrollment, and once approved, gain </a:t>
            </a:r>
            <a:r>
              <a:rPr lang="en-US" sz="1400" b="1" dirty="0">
                <a:latin typeface="Arial Black" panose="020B0A04020102020204" pitchFamily="34" charset="0"/>
              </a:rPr>
              <a:t>permanent access</a:t>
            </a:r>
            <a:r>
              <a:rPr lang="en-US" sz="1400" dirty="0">
                <a:latin typeface="Arial Black" panose="020B0A04020102020204" pitchFamily="34" charset="0"/>
              </a:rPr>
              <a:t> to course materials. Both books and courses offer a </a:t>
            </a:r>
            <a:r>
              <a:rPr lang="en-US" sz="1400" b="1" dirty="0">
                <a:latin typeface="Arial Black" panose="020B0A04020102020204" pitchFamily="34" charset="0"/>
              </a:rPr>
              <a:t>free demo preview</a:t>
            </a:r>
            <a:r>
              <a:rPr lang="en-US" sz="1400" dirty="0">
                <a:latin typeface="Arial Black" panose="020B0A04020102020204" pitchFamily="34" charset="0"/>
              </a:rPr>
              <a:t>, allowing partial access before purchase. The platform tracks course progress, and when a client completes all videos, the system logs them in a </a:t>
            </a:r>
            <a:r>
              <a:rPr lang="en-US" sz="1400" b="1" dirty="0">
                <a:latin typeface="Arial Black" panose="020B0A04020102020204" pitchFamily="34" charset="0"/>
              </a:rPr>
              <a:t>course completion dashboard</a:t>
            </a:r>
            <a:r>
              <a:rPr lang="en-US" sz="1400" dirty="0">
                <a:latin typeface="Arial Black" panose="020B0A04020102020204" pitchFamily="34" charset="0"/>
              </a:rPr>
              <a:t> visible to the coach. Additional features include </a:t>
            </a:r>
            <a:r>
              <a:rPr lang="en-US" sz="1400" b="1" dirty="0">
                <a:latin typeface="Arial Black" panose="020B0A04020102020204" pitchFamily="34" charset="0"/>
              </a:rPr>
              <a:t>in-app notifications</a:t>
            </a:r>
            <a:r>
              <a:rPr lang="en-US" sz="1400" dirty="0">
                <a:latin typeface="Arial Black" panose="020B0A04020102020204" pitchFamily="34" charset="0"/>
              </a:rPr>
              <a:t> for approvals, plan updates, and subscription expiry reminders; a </a:t>
            </a:r>
            <a:r>
              <a:rPr lang="en-US" sz="1400" b="1" dirty="0">
                <a:latin typeface="Arial Black" panose="020B0A04020102020204" pitchFamily="34" charset="0"/>
              </a:rPr>
              <a:t>built-in messaging system</a:t>
            </a:r>
            <a:r>
              <a:rPr lang="en-US" sz="1400" dirty="0">
                <a:latin typeface="Arial Black" panose="020B0A04020102020204" pitchFamily="34" charset="0"/>
              </a:rPr>
              <a:t> allowing clients to leave comments or feedback on their programs, which the coach can view in real time; and </a:t>
            </a:r>
            <a:r>
              <a:rPr lang="en-US" sz="1400" b="1" dirty="0">
                <a:latin typeface="Arial Black" panose="020B0A04020102020204" pitchFamily="34" charset="0"/>
              </a:rPr>
              <a:t>secure role-based access control</a:t>
            </a:r>
            <a:r>
              <a:rPr lang="en-US" sz="1400" dirty="0">
                <a:latin typeface="Arial Black" panose="020B0A04020102020204" pitchFamily="34" charset="0"/>
              </a:rPr>
              <a:t> to ensure proper permissions for clients and coaches. Coaches can efficiently reuse resources—such as exercises, meal plans, and course materials—without re-entering data for each client, and clients have a unified dashboard displaying approved services, subscription details, purchased courses, and books.</a:t>
            </a:r>
            <a:endParaRPr lang="en-US" sz="1200" dirty="0">
              <a:latin typeface="Arial Black" panose="020B0A04020102020204" pitchFamily="34" charset="0"/>
            </a:endParaRPr>
          </a:p>
        </p:txBody>
      </p:sp>
    </p:spTree>
    <p:extLst>
      <p:ext uri="{BB962C8B-B14F-4D97-AF65-F5344CB8AC3E}">
        <p14:creationId xmlns:p14="http://schemas.microsoft.com/office/powerpoint/2010/main" val="1138268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358</Words>
  <Application>Microsoft Office PowerPoint</Application>
  <PresentationFormat>Widescreen</PresentationFormat>
  <Paragraphs>1</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Arial Black</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hani</dc:creator>
  <cp:lastModifiedBy>ali hani</cp:lastModifiedBy>
  <cp:revision>2</cp:revision>
  <dcterms:created xsi:type="dcterms:W3CDTF">2025-08-12T12:32:39Z</dcterms:created>
  <dcterms:modified xsi:type="dcterms:W3CDTF">2025-08-12T13:01:09Z</dcterms:modified>
</cp:coreProperties>
</file>